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6" Type="http://schemas.openxmlformats.org/officeDocument/2006/relationships/viewProps" Target="viewProps.xml" /><Relationship Id="rId1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8" Type="http://schemas.openxmlformats.org/officeDocument/2006/relationships/tableStyles" Target="tableStyles.xml" /><Relationship Id="rId15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DBSEC - Section 02: Database Design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Database Design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Anomalies, Normalization, Denormalization, and Design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Duration: 60 minutes</a:t>
            </a:r>
          </a:p>
          <a:p>
            <a:pPr lvl="0"/>
            <a:r>
              <a:rPr/>
              <a:t>Goal: Understand normalization and anomalies</a:t>
            </a:r>
          </a:p>
          <a:p>
            <a:pPr lvl="0"/>
            <a:r>
              <a:rPr/>
              <a:t>Deliverable: Normalize a raw database design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Database Design Matters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Design Decides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entities exist</a:t>
            </a:r>
          </a:p>
          <a:p>
            <a:pPr lvl="0"/>
            <a:r>
              <a:rPr/>
              <a:t>how facts are stored</a:t>
            </a:r>
          </a:p>
          <a:p>
            <a:pPr lvl="0"/>
            <a:r>
              <a:rPr/>
              <a:t>which constraints exist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Design Decides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relationships are represented</a:t>
            </a:r>
          </a:p>
          <a:p>
            <a:pPr lvl="0"/>
            <a:r>
              <a:rPr/>
              <a:t>which facts are duplicated</a:t>
            </a:r>
          </a:p>
          <a:p>
            <a:pPr lvl="0"/>
            <a:r>
              <a:rPr/>
              <a:t>which facts exist only once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Outlives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change.</a:t>
            </a:r>
          </a:p>
          <a:p>
            <a:pPr lvl="0" indent="0" marL="0">
              <a:buNone/>
            </a:pPr>
            <a:r>
              <a:rPr/>
              <a:t>But data often survives:</a:t>
            </a:r>
          </a:p>
          <a:p>
            <a:pPr lvl="0"/>
            <a:r>
              <a:rPr/>
              <a:t>rewrites</a:t>
            </a:r>
          </a:p>
          <a:p>
            <a:pPr lvl="0"/>
            <a:r>
              <a:rPr/>
              <a:t>migrations</a:t>
            </a:r>
          </a:p>
          <a:p>
            <a:pPr lvl="0"/>
            <a:r>
              <a:rPr/>
              <a:t>integrations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Outlives Applications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may survive:</a:t>
            </a:r>
          </a:p>
          <a:p>
            <a:pPr lvl="0"/>
            <a:r>
              <a:rPr/>
              <a:t>framework changes</a:t>
            </a:r>
          </a:p>
          <a:p>
            <a:pPr lvl="0"/>
            <a:r>
              <a:rPr/>
              <a:t>UI redesigns</a:t>
            </a:r>
          </a:p>
          <a:p>
            <a:pPr lvl="0"/>
            <a:r>
              <a:rPr/>
              <a:t>new services</a:t>
            </a:r>
          </a:p>
          <a:p>
            <a:pPr lvl="0" indent="0" marL="0">
              <a:buNone/>
            </a:pPr>
            <a:r>
              <a:rPr/>
              <a:t>Database structure matters long-term.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Database Design and Integrity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Application-Level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The application checks whether an order belongs to an existing user.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of Application-Only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validation may fail</a:t>
            </a:r>
          </a:p>
          <a:p>
            <a:pPr lvl="0"/>
            <a:r>
              <a:rPr/>
              <a:t>checks may be inconsistent</a:t>
            </a:r>
          </a:p>
          <a:p>
            <a:pPr lvl="0"/>
            <a:r>
              <a:rPr/>
              <a:t>scripts may bypass validation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Database-Level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A foreign key prevents an order from referencing a missing user.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Advantages of Database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centralized validation</a:t>
            </a:r>
          </a:p>
          <a:p>
            <a:pPr lvl="0"/>
            <a:r>
              <a:rPr/>
              <a:t>harder to bypass</a:t>
            </a:r>
          </a:p>
          <a:p>
            <a:pPr lvl="0"/>
            <a:r>
              <a:rPr/>
              <a:t>safer direct writes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Constraints Help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developers forget validation</a:t>
            </a:r>
          </a:p>
          <a:p>
            <a:pPr lvl="0"/>
            <a:r>
              <a:rPr/>
              <a:t>multiple applications share the database</a:t>
            </a:r>
          </a:p>
          <a:p>
            <a:pPr lvl="0"/>
            <a:r>
              <a:rPr/>
              <a:t>migrations introduce bad data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Constraints Help When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scripts write directly</a:t>
            </a:r>
          </a:p>
          <a:p>
            <a:pPr lvl="0"/>
            <a:r>
              <a:rPr/>
              <a:t>attackers reach unexpected endpoints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Real Life to a Data Model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University system.</a:t>
            </a:r>
          </a:p>
          <a:p>
            <a:pPr lvl="0" indent="0" marL="0">
              <a:buNone/>
            </a:pPr>
            <a:r>
              <a:rPr/>
              <a:t>Real-world facts: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Students enroll in courses.
Professors teach courses.
Students receive grades.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Students
Courses
Professors
Enrollments
Grades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student enrolls in many courses.
A course contains many students.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Relationships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professor teaches many courses.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Bad models:</a:t>
            </a:r>
          </a:p>
          <a:p>
            <a:pPr lvl="0"/>
            <a:r>
              <a:rPr/>
              <a:t>mix unrelated facts</a:t>
            </a:r>
          </a:p>
          <a:p>
            <a:pPr lvl="0"/>
            <a:r>
              <a:rPr/>
              <a:t>duplicate information</a:t>
            </a:r>
          </a:p>
          <a:p>
            <a:pPr lvl="0"/>
            <a:r>
              <a:rPr/>
              <a:t>create anomalies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models:</a:t>
            </a:r>
          </a:p>
          <a:p>
            <a:pPr lvl="0"/>
            <a:r>
              <a:rPr/>
              <a:t>separate concerns</a:t>
            </a:r>
          </a:p>
          <a:p>
            <a:pPr lvl="0"/>
            <a:r>
              <a:rPr/>
              <a:t>reduce duplication</a:t>
            </a:r>
          </a:p>
          <a:p>
            <a:pPr lvl="0"/>
            <a:r>
              <a:rPr/>
              <a:t>clarify relationships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Basic Relational Terms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Relation = table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Attribute = column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student_id
name
email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Tuple = row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(1, "Alice", "alice@example.com")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 = allowed values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grade must be between 1 and 10
email must follow email format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Raw Table Example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Initial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grade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Facts Mixed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mixes:</a:t>
            </a:r>
          </a:p>
          <a:p>
            <a:pPr lvl="0"/>
            <a:r>
              <a:rPr/>
              <a:t>student facts</a:t>
            </a:r>
          </a:p>
          <a:p>
            <a:pPr lvl="0"/>
            <a:r>
              <a:rPr/>
              <a:t>course facts</a:t>
            </a:r>
          </a:p>
          <a:p>
            <a:pPr lvl="0"/>
            <a:r>
              <a:rPr/>
              <a:t>professor facts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Facts Mixed Together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also mixes:</a:t>
            </a:r>
          </a:p>
          <a:p>
            <a:pPr lvl="0"/>
            <a:r>
              <a:rPr/>
              <a:t>enrollment facts</a:t>
            </a:r>
          </a:p>
          <a:p>
            <a:pPr lvl="0"/>
            <a:r>
              <a:rPr/>
              <a:t>grade facts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Repeated facts:</a:t>
            </a:r>
          </a:p>
          <a:p>
            <a:pPr lvl="0" indent="0">
              <a:buNone/>
            </a:pPr>
            <a:r>
              <a:rPr>
                <a:latin typeface="Courier"/>
              </a:rPr>
              <a:t>Alice appears multiple times.
DBSEC appears multiple times.
Ionescu appears multiple times.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of 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inconsistent updates</a:t>
            </a:r>
          </a:p>
          <a:p>
            <a:pPr lvl="0"/>
            <a:r>
              <a:rPr/>
              <a:t>unclear source of truth</a:t>
            </a:r>
          </a:p>
          <a:p>
            <a:pPr lvl="0"/>
            <a:r>
              <a:rPr/>
              <a:t>larger storage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of Redundancy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harder deletions</a:t>
            </a:r>
          </a:p>
          <a:p>
            <a:pPr lvl="0"/>
            <a:r>
              <a:rPr/>
              <a:t>harder access control</a:t>
            </a:r>
          </a:p>
          <a:p>
            <a:pPr lvl="0"/>
            <a:r>
              <a:rPr/>
              <a:t>harder auditing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Anomalies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Anomaly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insert anomalies</a:t>
            </a:r>
          </a:p>
          <a:p>
            <a:pPr lvl="0"/>
            <a:r>
              <a:rPr/>
              <a:t>update anomalies</a:t>
            </a:r>
          </a:p>
          <a:p>
            <a:pPr lvl="0"/>
            <a:r>
              <a:rPr/>
              <a:t>delete anomalies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Anomalies are structural problems.</a:t>
            </a:r>
          </a:p>
          <a:p>
            <a:pPr lvl="0" indent="0" marL="0">
              <a:buNone/>
            </a:pPr>
            <a:r>
              <a:rPr/>
              <a:t>They appear because of:</a:t>
            </a:r>
          </a:p>
          <a:p>
            <a:pPr lvl="0" indent="0">
              <a:buNone/>
            </a:pPr>
            <a:r>
              <a:rPr>
                <a:latin typeface="Courier"/>
              </a:rPr>
              <a:t>How the data is modeled.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Insert Anomalies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Anomaly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</a:t>
            </a:r>
          </a:p>
          <a:p>
            <a:pPr lvl="0" indent="0">
              <a:buNone/>
            </a:pPr>
            <a:r>
              <a:rPr>
                <a:latin typeface="Courier"/>
              </a:rPr>
              <a:t>A fact cannot be inserted independently.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Anomaly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want:</a:t>
            </a:r>
          </a:p>
          <a:p>
            <a:pPr lvl="0" indent="0">
              <a:buNone/>
            </a:pPr>
            <a:r>
              <a:rPr>
                <a:latin typeface="Courier"/>
              </a:rPr>
              <a:t>A new course: CRYPTO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 Anomaly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But:</a:t>
            </a:r>
          </a:p>
          <a:p>
            <a:pPr lvl="0" indent="0">
              <a:buNone/>
            </a:pPr>
            <a:r>
              <a:rPr>
                <a:latin typeface="Courier"/>
              </a:rPr>
              <a:t>No student is enrolled yet.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The course cannot exist independently.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Update Anomalies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Update Anomaly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</a:t>
            </a:r>
          </a:p>
          <a:p>
            <a:pPr lvl="0" indent="0">
              <a:buNone/>
            </a:pPr>
            <a:r>
              <a:rPr>
                <a:latin typeface="Courier"/>
              </a:rPr>
              <a:t>Updating one fact requires changing many rows.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Update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Professor email changes:</a:t>
            </a:r>
          </a:p>
          <a:p>
            <a:pPr lvl="0" indent="0">
              <a:buNone/>
            </a:pPr>
            <a:r>
              <a:rPr>
                <a:latin typeface="Courier"/>
              </a:rPr>
              <a:t>ion@uni.example
-&gt;
ionescu@uni.example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Contradictory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only some rows are updated:</a:t>
            </a:r>
          </a:p>
          <a:p>
            <a:pPr lvl="0" indent="0">
              <a:buNone/>
            </a:pPr>
            <a:r>
              <a:rPr>
                <a:latin typeface="Courier"/>
              </a:rPr>
              <a:t>The database contains contradictory facts.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user's role is duplicated in multiple tables.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row says:</a:t>
            </a:r>
          </a:p>
          <a:p>
            <a:pPr lvl="0" indent="0">
              <a:buNone/>
            </a:pPr>
            <a:r>
              <a:rPr>
                <a:latin typeface="Courier"/>
              </a:rPr>
              <a:t>admin</a:t>
            </a:r>
          </a:p>
          <a:p>
            <a:pPr lvl="0" indent="0" marL="0">
              <a:buNone/>
            </a:pPr>
            <a:r>
              <a:rPr/>
              <a:t>Another says:</a:t>
            </a:r>
          </a:p>
          <a:p>
            <a:pPr lvl="0" indent="0">
              <a:buNone/>
            </a:pPr>
            <a:r>
              <a:rPr>
                <a:latin typeface="Courier"/>
              </a:rPr>
              <a:t>user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Possible result:</a:t>
            </a:r>
          </a:p>
          <a:p>
            <a:pPr lvl="0" indent="0">
              <a:buNone/>
            </a:pPr>
            <a:r>
              <a:rPr>
                <a:latin typeface="Courier"/>
              </a:rPr>
              <a:t>Excessive permissions remain active.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Delete Anomalies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 Anomaly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</a:t>
            </a:r>
          </a:p>
          <a:p>
            <a:pPr lvl="0" indent="0">
              <a:buNone/>
            </a:pPr>
            <a:r>
              <a:rPr>
                <a:latin typeface="Courier"/>
              </a:rPr>
              <a:t>Deleting one fact accidentally deletes another.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Bob drops DBSEC.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Delete 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Bob was the last student:</a:t>
            </a:r>
          </a:p>
          <a:p>
            <a:pPr lvl="0" indent="0">
              <a:buNone/>
            </a:pPr>
            <a:r>
              <a:rPr>
                <a:latin typeface="Courier"/>
              </a:rPr>
              <a:t>Deleting the enrollment
also deletes course information.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Normalization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Normalization?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Normalization:</a:t>
            </a:r>
          </a:p>
          <a:p>
            <a:pPr lvl="0"/>
            <a:r>
              <a:rPr/>
              <a:t>restructures relations</a:t>
            </a:r>
          </a:p>
          <a:p>
            <a:pPr lvl="0"/>
            <a:r>
              <a:rPr/>
              <a:t>reduces redundancy</a:t>
            </a:r>
          </a:p>
          <a:p>
            <a:pPr lvl="0"/>
            <a:r>
              <a:rPr/>
              <a:t>reduces anomalies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Normalization?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Normalization also:</a:t>
            </a:r>
          </a:p>
          <a:p>
            <a:pPr lvl="0"/>
            <a:r>
              <a:rPr/>
              <a:t>clarifies dependencies</a:t>
            </a:r>
          </a:p>
          <a:p>
            <a:pPr lvl="0"/>
            <a:r>
              <a:rPr/>
              <a:t>improves structure</a:t>
            </a:r>
          </a:p>
          <a:p>
            <a:pPr lvl="0"/>
            <a:r>
              <a:rPr/>
              <a:t>improves integrity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Every attribute should describe:
the key,
the whole key,
and nothing but the key.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Normalized Design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Professors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professor_id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Ionescu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Popescu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Security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Enrollments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grade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Improved?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student facts stored once</a:t>
            </a:r>
          </a:p>
          <a:p>
            <a:pPr lvl="0"/>
            <a:r>
              <a:rPr/>
              <a:t>course facts stored once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Improved?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professor facts stored once</a:t>
            </a:r>
          </a:p>
          <a:p>
            <a:pPr lvl="0"/>
            <a:r>
              <a:rPr/>
              <a:t>enrollments represented directly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Keys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Superkey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superkey uniquely identifies rows.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student_id
email
student_id + email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Candidate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candidate key is:</a:t>
            </a:r>
          </a:p>
          <a:p>
            <a:pPr lvl="0" indent="0">
              <a:buNone/>
            </a:pPr>
            <a:r>
              <a:rPr>
                <a:latin typeface="Courier"/>
              </a:rPr>
              <a:t>A minimal superkey.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chosen candidate key.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student_id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Foreign Keys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Foreign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foreign key references another relation.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Foreign Key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Courses.professor_id
-&gt;
Professors.professor_id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Foreign Keys Help Enforce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referential integrity</a:t>
            </a:r>
          </a:p>
          <a:p>
            <a:pPr lvl="0"/>
            <a:r>
              <a:rPr/>
              <a:t>ownership structure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Foreign Keys Help Enforce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consistency</a:t>
            </a:r>
          </a:p>
          <a:p>
            <a:pPr lvl="0"/>
            <a:r>
              <a:rPr/>
              <a:t>safer deletes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Dependencies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student_id -&gt; student_name
course_code -&gt; course_name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Meaning of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Knowing the left side determines the right side.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Dependencies Help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attributes belong</a:t>
            </a:r>
          </a:p>
          <a:p>
            <a:pPr lvl="0"/>
            <a:r>
              <a:rPr/>
              <a:t>which tables should exist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Dependencies Help Decide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which decompositions are correct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Normal Form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relation is in 1NF if:</a:t>
            </a:r>
          </a:p>
          <a:p>
            <a:pPr lvl="0"/>
            <a:r>
              <a:rPr/>
              <a:t>one value per cell</a:t>
            </a:r>
          </a:p>
          <a:p>
            <a:pPr lvl="0"/>
            <a:r>
              <a:rPr/>
              <a:t>no repeating groups</a:t>
            </a:r>
          </a:p>
          <a:p>
            <a:pPr lvl="0"/>
            <a:r>
              <a:rPr/>
              <a:t>no lists inside attributes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1NF Bad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0711,0722,0733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phones contains multiple values.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Better 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Better Design (continued)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StudentPhones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0733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Second Normal Form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relation is in 2NF if:</a:t>
            </a:r>
          </a:p>
          <a:p>
            <a:pPr lvl="0"/>
            <a:r>
              <a:rPr/>
              <a:t>it is in 1NF</a:t>
            </a:r>
          </a:p>
          <a:p>
            <a:pPr lvl="0"/>
            <a:r>
              <a:rPr/>
              <a:t>it contains no partial dependencies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Partial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</a:t>
            </a:r>
          </a:p>
          <a:p>
            <a:pPr lvl="0" indent="0">
              <a:buNone/>
            </a:pPr>
            <a:r>
              <a:rPr>
                <a:latin typeface="Courier"/>
              </a:rPr>
              <a:t>A non-key attribute depends
on only part of a composite key.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2NF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Composite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(student_id, course_code)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student_id -&gt; student_name
course_code -&gt; course_name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student_name depends only on student_id
course_name depends only on course_code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Partial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are:</a:t>
            </a:r>
          </a:p>
          <a:p>
            <a:pPr lvl="0" indent="0">
              <a:buNone/>
            </a:pPr>
            <a:r>
              <a:rPr>
                <a:latin typeface="Courier"/>
              </a:rPr>
              <a:t>Partial dependencies.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2NF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 into:</a:t>
            </a:r>
          </a:p>
          <a:p>
            <a:pPr lvl="0"/>
            <a:r>
              <a:rPr/>
              <a:t>Students</a:t>
            </a:r>
          </a:p>
          <a:p>
            <a:pPr lvl="0"/>
            <a:r>
              <a:rPr/>
              <a:t>Courses</a:t>
            </a:r>
          </a:p>
          <a:p>
            <a:pPr lvl="0"/>
            <a:r>
              <a:rPr/>
              <a:t>Enrollments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2NF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Each attribute depends on the whole key.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Third Normal Form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relation is in 3NF if:</a:t>
            </a:r>
          </a:p>
          <a:p>
            <a:pPr lvl="0"/>
            <a:r>
              <a:rPr/>
              <a:t>it is in 2NF</a:t>
            </a:r>
          </a:p>
          <a:p>
            <a:pPr lvl="0"/>
            <a:r>
              <a:rPr/>
              <a:t>it contains no transitive dependencies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Transitive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Definition:</a:t>
            </a:r>
          </a:p>
          <a:p>
            <a:pPr lvl="0" indent="0">
              <a:buNone/>
            </a:pPr>
            <a:r>
              <a:rPr>
                <a:latin typeface="Courier"/>
              </a:rPr>
              <a:t>A non-key attribute depends
on another non-key attribute.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-&gt; B
B -&gt; C
therefore
A -&gt; C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3NF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group_tutor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Ionescu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Ionescu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student_id -&gt; group_id
group_id -&gt; group_tutor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Derived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student_id -&gt; group_tutor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group_tutor depends on group_id,
not directly on student_id.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transitive dependency.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3NF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Split into:</a:t>
            </a:r>
          </a:p>
          <a:p>
            <a:pPr lvl="0"/>
            <a:r>
              <a:rPr/>
              <a:t>Students</a:t>
            </a:r>
          </a:p>
          <a:p>
            <a:pPr lvl="0"/>
            <a:r>
              <a:rPr/>
              <a:t>Groups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3NF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group_tutor belongs to Groups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BCNF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BCNF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Boyce-Codd Normal Form:</a:t>
            </a:r>
          </a:p>
          <a:p>
            <a:pPr lvl="0" indent="0">
              <a:buNone/>
            </a:pPr>
            <a:r>
              <a:rPr>
                <a:latin typeface="Courier"/>
              </a:rPr>
              <a:t>Every determinant must be a key.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BCNF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3NF still allows:</a:t>
            </a:r>
          </a:p>
          <a:p>
            <a:pPr lvl="0" indent="0">
              <a:buNone/>
            </a:pPr>
            <a:r>
              <a:rPr>
                <a:latin typeface="Courier"/>
              </a:rPr>
              <a:t>Dependencies where the determinant
is not a candidate key.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BCNF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student, course -&gt; instructor
instructor -&gt; course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BCNF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instructor determines course
but instructor is not a key.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Fourth Normal Form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removes:</a:t>
            </a:r>
          </a:p>
          <a:p>
            <a:pPr lvl="0" indent="0">
              <a:buNone/>
            </a:pPr>
            <a:r>
              <a:rPr>
                <a:latin typeface="Courier"/>
              </a:rPr>
              <a:t>Multivalued dependency anomalies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hobby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English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Hiking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Example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hobby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Hiking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Languages and hobbies are independent.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Problem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The table creates artificial combinations.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4NF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StudentLanguages
StudentHobbies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Fifth Normal Form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5NF removes:</a:t>
            </a:r>
          </a:p>
          <a:p>
            <a:pPr lvl="0" indent="0">
              <a:buNone/>
            </a:pPr>
            <a:r>
              <a:rPr>
                <a:latin typeface="Courier"/>
              </a:rPr>
              <a:t>Join dependency anomalies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 relation may be reconstructible
from smaller relations.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The larger relation may contain redundant combinations.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DKNF and 6NF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DKNF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Domain-Key Normal Form:</a:t>
            </a:r>
          </a:p>
          <a:p>
            <a:pPr lvl="0" indent="0">
              <a:buNone/>
            </a:pPr>
            <a:r>
              <a:rPr>
                <a:latin typeface="Courier"/>
              </a:rPr>
              <a:t>All constraints should be expressible
through domains and keys.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Mostly useful for:</a:t>
            </a:r>
          </a:p>
          <a:p>
            <a:pPr lvl="0"/>
            <a:r>
              <a:rPr/>
              <a:t>temporal databases</a:t>
            </a:r>
          </a:p>
          <a:p>
            <a:pPr lvl="0"/>
            <a:r>
              <a:rPr/>
              <a:t>independently changing attributes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6NF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Mostly useful for:</a:t>
            </a:r>
          </a:p>
          <a:p>
            <a:pPr lvl="0"/>
            <a:r>
              <a:rPr/>
              <a:t>historical tracking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Denormalization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Intentional redundancy for:</a:t>
            </a:r>
          </a:p>
          <a:p>
            <a:pPr lvl="0"/>
            <a:r>
              <a:rPr/>
              <a:t>performance</a:t>
            </a:r>
          </a:p>
          <a:p>
            <a:pPr lvl="0"/>
            <a:r>
              <a:rPr/>
              <a:t>faster reads</a:t>
            </a:r>
          </a:p>
          <a:p>
            <a:pPr lvl="0"/>
            <a:r>
              <a:rPr/>
              <a:t>simpler queries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Store:</a:t>
            </a:r>
          </a:p>
          <a:p>
            <a:pPr lvl="0" indent="0">
              <a:buNone/>
            </a:pPr>
            <a:r>
              <a:rPr>
                <a:latin typeface="Courier"/>
              </a:rPr>
              <a:t>Orders.total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though it can be computed from:</a:t>
            </a:r>
          </a:p>
          <a:p>
            <a:pPr lvl="0" indent="0">
              <a:buNone/>
            </a:pPr>
            <a:r>
              <a:rPr>
                <a:latin typeface="Courier"/>
              </a:rPr>
              <a:t>OrderItems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If items change,
the total must also change.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Normalization vs Denormalization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Normalization Favors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correctness</a:t>
            </a:r>
          </a:p>
          <a:p>
            <a:pPr lvl="0"/>
            <a:r>
              <a:rPr/>
              <a:t>integrity</a:t>
            </a:r>
          </a:p>
          <a:p>
            <a:pPr lvl="0"/>
            <a:r>
              <a:rPr/>
              <a:t>easier updates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Normalization Favors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less redundancy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Denormalization Favors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faster reads</a:t>
            </a:r>
          </a:p>
          <a:p>
            <a:pPr lvl="0"/>
            <a:r>
              <a:rPr/>
              <a:t>fewer joins</a:t>
            </a:r>
          </a:p>
          <a:p>
            <a:pPr lvl="0"/>
            <a:r>
              <a:rPr/>
              <a:t>optimized queries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Security Impact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Design Affects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Poor design may create:</a:t>
            </a:r>
          </a:p>
          <a:p>
            <a:pPr lvl="0"/>
            <a:r>
              <a:rPr/>
              <a:t>duplicated permissions</a:t>
            </a:r>
          </a:p>
          <a:p>
            <a:pPr lvl="0"/>
            <a:r>
              <a:rPr/>
              <a:t>orphaned records</a:t>
            </a:r>
          </a:p>
        </p:txBody>
      </p:sp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Database Design Affects Security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Poor design may create:</a:t>
            </a:r>
          </a:p>
          <a:p>
            <a:pPr lvl="0"/>
            <a:r>
              <a:rPr/>
              <a:t>unclear ownership</a:t>
            </a:r>
          </a:p>
          <a:p>
            <a:pPr lvl="0"/>
            <a:r>
              <a:rPr/>
              <a:t>inconsistent access control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Ownership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 -&gt; Organization
Organization -&gt; Project
Project -&gt; Document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Ownership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Ownership relationships affect authorization.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Design Checklist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What are the entities?</a:t>
            </a:r>
          </a:p>
          <a:p>
            <a:pPr lvl="0" indent="-342900" marL="342900">
              <a:buAutoNum type="arabicPeriod"/>
            </a:pPr>
            <a:r>
              <a:rPr/>
              <a:t>What are the identifiers?</a:t>
            </a:r>
          </a:p>
          <a:p>
            <a:pPr lvl="0" indent="-342900" marL="342900">
              <a:buAutoNum type="arabicPeriod"/>
            </a:pPr>
            <a:r>
              <a:rPr/>
              <a:t>What relationships exist?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What facts are duplicated?</a:t>
            </a:r>
          </a:p>
          <a:p>
            <a:pPr lvl="0" indent="-342900" marL="342900">
              <a:buAutoNum startAt="4" type="arabicPeriod"/>
            </a:pPr>
            <a:r>
              <a:rPr/>
              <a:t>What dependencies exist?</a:t>
            </a:r>
          </a:p>
          <a:p>
            <a:pPr lvl="0" indent="-342900" marL="342900">
              <a:buAutoNum startAt="4" type="arabicPeriod"/>
            </a:pPr>
            <a:r>
              <a:rPr/>
              <a:t>Which constraints belong in the database?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Normalization Cheat Sheet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Cheat Sheet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Problem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repeating groups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partial dependencies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transitive dependencies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Cheat Sheet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 Problem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BCNF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non-key determinants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multivalued dependencies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5NF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dependencies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bad design creates anomalies</a:t>
            </a:r>
          </a:p>
          <a:p>
            <a:pPr lvl="0"/>
            <a:r>
              <a:rPr/>
              <a:t>normalization reduces anomalies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Ideas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dependencies determine structure</a:t>
            </a:r>
          </a:p>
          <a:p>
            <a:pPr lvl="0"/>
            <a:r>
              <a:rPr/>
              <a:t>denormalization is sometimes useful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Ideas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 affects security directly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Discussion Questions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Why are large tables attractive initially?</a:t>
            </a:r>
          </a:p>
          <a:p>
            <a:pPr lvl="0" indent="-342900" marL="342900">
              <a:buAutoNum type="arabicPeriod"/>
            </a:pPr>
            <a:r>
              <a:rPr/>
              <a:t>Why are duplicated roles dangerous?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Why does 2NF matter for composite keys?</a:t>
            </a:r>
          </a:p>
          <a:p>
            <a:pPr lvl="0" indent="-342900" marL="342900">
              <a:buAutoNum startAt="3" type="arabicPeriod"/>
            </a:pPr>
            <a:r>
              <a:rPr/>
              <a:t>Why does 3NF reduce hidden dependencies?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5" type="arabicPeriod"/>
            </a:pPr>
            <a:r>
              <a:rPr/>
              <a:t>When is denormalization justified?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2026-05-09T04:56:01Z</dcterms:created>
  <dcterms:modified xsi:type="dcterms:W3CDTF">2026-05-09T04:56:01Z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