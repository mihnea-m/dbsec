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6" Type="http://schemas.openxmlformats.org/officeDocument/2006/relationships/viewProps" Target="viewProps.xml" /><Relationship Id="rId1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8" Type="http://schemas.openxmlformats.org/officeDocument/2006/relationships/tableStyles" Target="tableStyles.xml" /><Relationship Id="rId1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DBSEC - Section 01: Introduction to Databases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Databases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Models, Evolution, Trade-Offs, and 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Duration: 40 minutes</a:t>
            </a:r>
          </a:p>
          <a:p>
            <a:pPr lvl="0"/>
            <a:r>
              <a:rPr/>
              <a:t>Goal: Build shared vocabulary</a:t>
            </a:r>
          </a:p>
          <a:p>
            <a:pPr lvl="0"/>
            <a:r>
              <a:rPr/>
              <a:t>Focus: Security and architecture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Context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Course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course studies databases from a security-focused perspective.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How do we store and query data?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How do we protect data?
How do we control access?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How do we detect abuse?
How do we recover after failure?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How do we keep systems understandable?
How do we keep systems maintainable?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database principles</a:t>
            </a:r>
          </a:p>
          <a:p>
            <a:pPr lvl="0"/>
            <a:r>
              <a:rPr/>
              <a:t>database design</a:t>
            </a:r>
          </a:p>
          <a:p>
            <a:pPr lvl="0"/>
            <a:r>
              <a:rPr/>
              <a:t>SQL and MySQL</a:t>
            </a:r>
          </a:p>
          <a:p>
            <a:pPr lvl="0"/>
            <a:r>
              <a:rPr/>
              <a:t>Node.js database access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Topics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ORMs and ODMs</a:t>
            </a:r>
          </a:p>
          <a:p>
            <a:pPr lvl="0"/>
            <a:r>
              <a:rPr/>
              <a:t>LDAP and identity management</a:t>
            </a:r>
          </a:p>
          <a:p>
            <a:pPr lvl="0"/>
            <a:r>
              <a:rPr/>
              <a:t>MySQL security</a:t>
            </a:r>
          </a:p>
          <a:p>
            <a:pPr lvl="0"/>
            <a:r>
              <a:rPr/>
              <a:t>MongoDB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Topics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MongoDB security</a:t>
            </a:r>
          </a:p>
          <a:p>
            <a:pPr lvl="0"/>
            <a:r>
              <a:rPr/>
              <a:t>distributed architectures</a:t>
            </a:r>
          </a:p>
          <a:p>
            <a:pPr lvl="0"/>
            <a:r>
              <a:rPr/>
              <a:t>Redis</a:t>
            </a:r>
          </a:p>
          <a:p>
            <a:pPr lvl="0"/>
            <a:r>
              <a:rPr/>
              <a:t>Neo4j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Databases Matter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Depend 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users</a:t>
            </a:r>
          </a:p>
          <a:p>
            <a:pPr lvl="0"/>
            <a:r>
              <a:rPr/>
              <a:t>permissions</a:t>
            </a:r>
          </a:p>
          <a:p>
            <a:pPr lvl="0"/>
            <a:r>
              <a:rPr/>
              <a:t>orders</a:t>
            </a:r>
          </a:p>
          <a:p>
            <a:pPr lvl="0"/>
            <a:r>
              <a:rPr/>
              <a:t>payments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Depend on Data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messages</a:t>
            </a:r>
          </a:p>
          <a:p>
            <a:pPr lvl="0"/>
            <a:r>
              <a:rPr/>
              <a:t>files</a:t>
            </a:r>
          </a:p>
          <a:p>
            <a:pPr lvl="0"/>
            <a:r>
              <a:rPr/>
              <a:t>logs</a:t>
            </a:r>
          </a:p>
          <a:p>
            <a:pPr lvl="0"/>
            <a:r>
              <a:rPr/>
              <a:t>analytics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Database Helps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data exists?</a:t>
            </a:r>
          </a:p>
          <a:p>
            <a:pPr lvl="0"/>
            <a:r>
              <a:rPr/>
              <a:t>How is data structured?</a:t>
            </a:r>
          </a:p>
          <a:p>
            <a:pPr lvl="0"/>
            <a:r>
              <a:rPr/>
              <a:t>Who can access it?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Database Helps Answer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keep data correct?</a:t>
            </a:r>
          </a:p>
          <a:p>
            <a:pPr lvl="0"/>
            <a:r>
              <a:rPr/>
              <a:t>How do we recover after failure?</a:t>
            </a:r>
          </a:p>
          <a:p>
            <a:pPr lvl="0"/>
            <a:r>
              <a:rPr/>
              <a:t>How do we scale?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Banking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banking system stores:</a:t>
            </a:r>
          </a:p>
          <a:p>
            <a:pPr lvl="0"/>
            <a:r>
              <a:rPr/>
              <a:t>accounts</a:t>
            </a:r>
          </a:p>
          <a:p>
            <a:pPr lvl="0"/>
            <a:r>
              <a:rPr/>
              <a:t>balances</a:t>
            </a:r>
          </a:p>
          <a:p>
            <a:pPr lvl="0"/>
            <a:r>
              <a:rPr/>
              <a:t>transactions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Banking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banking system also stores:</a:t>
            </a:r>
          </a:p>
          <a:p>
            <a:pPr lvl="0"/>
            <a:r>
              <a:rPr/>
              <a:t>users</a:t>
            </a:r>
          </a:p>
          <a:p>
            <a:pPr lvl="0"/>
            <a:r>
              <a:rPr/>
              <a:t>permissions</a:t>
            </a:r>
          </a:p>
          <a:p>
            <a:pPr lvl="0"/>
            <a:r>
              <a:rPr/>
              <a:t>audit logs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Hospital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hospital system stores:</a:t>
            </a:r>
          </a:p>
          <a:p>
            <a:pPr lvl="0"/>
            <a:r>
              <a:rPr/>
              <a:t>patients</a:t>
            </a:r>
          </a:p>
          <a:p>
            <a:pPr lvl="0"/>
            <a:r>
              <a:rPr/>
              <a:t>doctors</a:t>
            </a:r>
          </a:p>
          <a:p>
            <a:pPr lvl="0"/>
            <a:r>
              <a:rPr/>
              <a:t>appointments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Hospital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hospital system also stores:</a:t>
            </a:r>
          </a:p>
          <a:p>
            <a:pPr lvl="0"/>
            <a:r>
              <a:rPr/>
              <a:t>prescriptions</a:t>
            </a:r>
          </a:p>
          <a:p>
            <a:pPr lvl="0"/>
            <a:r>
              <a:rPr/>
              <a:t>medical history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Network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social network stores:</a:t>
            </a:r>
          </a:p>
          <a:p>
            <a:pPr lvl="0"/>
            <a:r>
              <a:rPr/>
              <a:t>users</a:t>
            </a:r>
          </a:p>
          <a:p>
            <a:pPr lvl="0"/>
            <a:r>
              <a:rPr/>
              <a:t>posts</a:t>
            </a:r>
          </a:p>
          <a:p>
            <a:pPr lvl="0"/>
            <a:r>
              <a:rPr/>
              <a:t>comments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Network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social network also stores:</a:t>
            </a:r>
          </a:p>
          <a:p>
            <a:pPr lvl="0"/>
            <a:r>
              <a:rPr/>
              <a:t>likes</a:t>
            </a:r>
          </a:p>
          <a:p>
            <a:pPr lvl="0"/>
            <a:r>
              <a:rPr/>
              <a:t>messages</a:t>
            </a:r>
          </a:p>
          <a:p>
            <a:pPr lvl="0"/>
            <a:r>
              <a:rPr/>
              <a:t>relationships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E-Commerce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e-commerce system stores:</a:t>
            </a:r>
          </a:p>
          <a:p>
            <a:pPr lvl="0"/>
            <a:r>
              <a:rPr/>
              <a:t>products</a:t>
            </a:r>
          </a:p>
          <a:p>
            <a:pPr lvl="0"/>
            <a:r>
              <a:rPr/>
              <a:t>customers</a:t>
            </a:r>
          </a:p>
          <a:p>
            <a:pPr lvl="0"/>
            <a:r>
              <a:rPr/>
              <a:t>carts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E-Commerce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e-commerce system also stores:</a:t>
            </a:r>
          </a:p>
          <a:p>
            <a:pPr lvl="0"/>
            <a:r>
              <a:rPr/>
              <a:t>payments</a:t>
            </a:r>
          </a:p>
          <a:p>
            <a:pPr lvl="0"/>
            <a:r>
              <a:rPr/>
              <a:t>orders</a:t>
            </a:r>
          </a:p>
          <a:p>
            <a:pPr lvl="0"/>
            <a:r>
              <a:rPr/>
              <a:t>invoices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Databases Become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The database stores the application state.</a:t>
            </a:r>
          </a:p>
          <a:p>
            <a:pPr lvl="0" indent="0" marL="0">
              <a:buNone/>
            </a:pPr>
            <a:r>
              <a:rPr/>
              <a:t>This makes it a valuable target.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Data, Information, and State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Related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</a:t>
            </a:r>
          </a:p>
          <a:p>
            <a:pPr lvl="0"/>
            <a:r>
              <a:rPr/>
              <a:t>information</a:t>
            </a:r>
          </a:p>
          <a:p>
            <a:pPr lvl="0"/>
            <a:r>
              <a:rPr/>
              <a:t>state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Raw facts.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 indent="0">
              <a:buNone/>
            </a:pPr>
            <a:r>
              <a:rPr>
                <a:latin typeface="Courier"/>
              </a:rPr>
              <a:t>42
"Alice"
"paid"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interpreted in context.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Order #42 was paid by Alice.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current condition of a system.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The order is paid,
but not yet shipped.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a Database?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An organized collection of data.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DBMS supports:</a:t>
            </a:r>
          </a:p>
          <a:p>
            <a:pPr lvl="0"/>
            <a:r>
              <a:rPr/>
              <a:t>create</a:t>
            </a:r>
          </a:p>
          <a:p>
            <a:pPr lvl="0"/>
            <a:r>
              <a:rPr/>
              <a:t>read</a:t>
            </a:r>
          </a:p>
          <a:p>
            <a:pPr lvl="0"/>
            <a:r>
              <a:rPr/>
              <a:t>update</a:t>
            </a:r>
          </a:p>
          <a:p>
            <a:pPr lvl="0"/>
            <a:r>
              <a:rPr/>
              <a:t>delete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DBMS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DBMS also supports:</a:t>
            </a:r>
          </a:p>
          <a:p>
            <a:pPr lvl="0"/>
            <a:r>
              <a:rPr/>
              <a:t>organization</a:t>
            </a:r>
          </a:p>
          <a:p>
            <a:pPr lvl="0"/>
            <a:r>
              <a:rPr/>
              <a:t>security</a:t>
            </a:r>
          </a:p>
          <a:p>
            <a:pPr lvl="0"/>
            <a:r>
              <a:rPr/>
              <a:t>recovery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DBMSs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MySQL</a:t>
            </a:r>
          </a:p>
          <a:p>
            <a:pPr lvl="0"/>
            <a:r>
              <a:rPr/>
              <a:t>PostgreSQL</a:t>
            </a:r>
          </a:p>
          <a:p>
            <a:pPr lvl="0"/>
            <a:r>
              <a:rPr/>
              <a:t>SQLite</a:t>
            </a:r>
          </a:p>
          <a:p>
            <a:pPr lvl="0"/>
            <a:r>
              <a:rPr/>
              <a:t>MongoDB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DBMSs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Redis</a:t>
            </a:r>
          </a:p>
          <a:p>
            <a:pPr lvl="0"/>
            <a:r>
              <a:rPr/>
              <a:t>Neo4j</a:t>
            </a:r>
          </a:p>
          <a:p>
            <a:pPr lvl="0"/>
            <a:r>
              <a:rPr/>
              <a:t>Cassandra</a:t>
            </a:r>
          </a:p>
          <a:p>
            <a:pPr lvl="0"/>
            <a:r>
              <a:rPr/>
              <a:t>OpenSearch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database system may provide:</a:t>
            </a:r>
          </a:p>
          <a:p>
            <a:pPr lvl="0"/>
            <a:r>
              <a:rPr/>
              <a:t>query language</a:t>
            </a:r>
          </a:p>
          <a:p>
            <a:pPr lvl="0"/>
            <a:r>
              <a:rPr/>
              <a:t>indexes</a:t>
            </a:r>
          </a:p>
          <a:p>
            <a:pPr lvl="0"/>
            <a:r>
              <a:rPr/>
              <a:t>transactions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Features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database system may also provide:</a:t>
            </a:r>
          </a:p>
          <a:p>
            <a:pPr lvl="0"/>
            <a:r>
              <a:rPr/>
              <a:t>access control</a:t>
            </a:r>
          </a:p>
          <a:p>
            <a:pPr lvl="0"/>
            <a:r>
              <a:rPr/>
              <a:t>replication</a:t>
            </a:r>
          </a:p>
          <a:p>
            <a:pPr lvl="0"/>
            <a:r>
              <a:rPr/>
              <a:t>monitoring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Database Evolution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Evolution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file-based storage</a:t>
            </a:r>
          </a:p>
          <a:p>
            <a:pPr lvl="0"/>
            <a:r>
              <a:rPr/>
              <a:t>relational databases</a:t>
            </a:r>
          </a:p>
          <a:p>
            <a:pPr lvl="0"/>
            <a:r>
              <a:rPr/>
              <a:t>NoSQL systems</a:t>
            </a:r>
          </a:p>
          <a:p>
            <a:pPr lvl="0"/>
            <a:r>
              <a:rPr/>
              <a:t>distributed and AI-oriented systems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File-Based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Examples:</a:t>
            </a:r>
          </a:p>
          <a:p>
            <a:pPr lvl="0" indent="0">
              <a:buNone/>
            </a:pPr>
            <a:r>
              <a:rPr>
                <a:latin typeface="Courier"/>
              </a:rPr>
              <a:t>users.csv
orders.csv
payments.txt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File-Based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duplicated logic</a:t>
            </a:r>
          </a:p>
          <a:p>
            <a:pPr lvl="0"/>
            <a:r>
              <a:rPr/>
              <a:t>weak structure</a:t>
            </a:r>
          </a:p>
          <a:p>
            <a:pPr lvl="0"/>
            <a:r>
              <a:rPr/>
              <a:t>difficult concurrency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File-Based Problems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difficult recovery</a:t>
            </a:r>
          </a:p>
          <a:p>
            <a:pPr lvl="0"/>
            <a:r>
              <a:rPr/>
              <a:t>weak access control</a:t>
            </a:r>
          </a:p>
          <a:p>
            <a:pPr lvl="0"/>
            <a:r>
              <a:rPr/>
              <a:t>no standard query language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systems introduced:</a:t>
            </a:r>
          </a:p>
          <a:p>
            <a:pPr lvl="0"/>
            <a:r>
              <a:rPr/>
              <a:t>relations</a:t>
            </a:r>
          </a:p>
          <a:p>
            <a:pPr lvl="0"/>
            <a:r>
              <a:rPr/>
              <a:t>constraints</a:t>
            </a:r>
          </a:p>
          <a:p>
            <a:pPr lvl="0"/>
            <a:r>
              <a:rPr/>
              <a:t>declarative queries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Databases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systems also introduced:</a:t>
            </a:r>
          </a:p>
          <a:p>
            <a:pPr lvl="0"/>
            <a:r>
              <a:rPr/>
              <a:t>transactions</a:t>
            </a:r>
          </a:p>
          <a:p>
            <a:pPr lvl="0"/>
            <a:r>
              <a:rPr/>
              <a:t>shared access</a:t>
            </a:r>
          </a:p>
          <a:p>
            <a:pPr lvl="0"/>
            <a:r>
              <a:rPr/>
              <a:t>mature tooling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systems include:</a:t>
            </a:r>
          </a:p>
          <a:p>
            <a:pPr lvl="0"/>
            <a:r>
              <a:rPr/>
              <a:t>document databases</a:t>
            </a:r>
          </a:p>
          <a:p>
            <a:pPr lvl="0"/>
            <a:r>
              <a:rPr/>
              <a:t>key-value stores</a:t>
            </a:r>
          </a:p>
          <a:p>
            <a:pPr lvl="0"/>
            <a:r>
              <a:rPr/>
              <a:t>graph databases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Systems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systems also include:</a:t>
            </a:r>
          </a:p>
          <a:p>
            <a:pPr lvl="0"/>
            <a:r>
              <a:rPr/>
              <a:t>time-series databases</a:t>
            </a:r>
          </a:p>
          <a:p>
            <a:pPr lvl="0"/>
            <a:r>
              <a:rPr/>
              <a:t>search engines</a:t>
            </a:r>
          </a:p>
          <a:p>
            <a:pPr lvl="0"/>
            <a:r>
              <a:rPr/>
              <a:t>column-family stores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 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 systems increasingly use:</a:t>
            </a:r>
          </a:p>
          <a:p>
            <a:pPr lvl="0"/>
            <a:r>
              <a:rPr/>
              <a:t>cloud databases</a:t>
            </a:r>
          </a:p>
          <a:p>
            <a:pPr lvl="0"/>
            <a:r>
              <a:rPr/>
              <a:t>distributed databases</a:t>
            </a:r>
          </a:p>
          <a:p>
            <a:pPr lvl="0"/>
            <a:r>
              <a:rPr/>
              <a:t>vector databases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Shape of Data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Central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What shape does the data naturally have?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Data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tables</a:t>
            </a:r>
          </a:p>
          <a:p>
            <a:pPr lvl="0"/>
            <a:r>
              <a:rPr/>
              <a:t>documents</a:t>
            </a:r>
          </a:p>
          <a:p>
            <a:pPr lvl="0"/>
            <a:r>
              <a:rPr/>
              <a:t>graphs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Data Shapes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events</a:t>
            </a:r>
          </a:p>
          <a:p>
            <a:pPr lvl="0"/>
            <a:r>
              <a:rPr/>
              <a:t>key-value pairs</a:t>
            </a:r>
          </a:p>
          <a:p>
            <a:pPr lvl="0"/>
            <a:r>
              <a:rPr/>
              <a:t>vectors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Shape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model affects:</a:t>
            </a:r>
          </a:p>
          <a:p>
            <a:pPr lvl="0"/>
            <a:r>
              <a:rPr/>
              <a:t>representation</a:t>
            </a:r>
          </a:p>
          <a:p>
            <a:pPr lvl="0"/>
            <a:r>
              <a:rPr/>
              <a:t>relationships</a:t>
            </a:r>
          </a:p>
          <a:p>
            <a:pPr lvl="0"/>
            <a:r>
              <a:rPr/>
              <a:t>queries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Shape Matters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model also affects:</a:t>
            </a:r>
          </a:p>
          <a:p>
            <a:pPr lvl="0"/>
            <a:r>
              <a:rPr/>
              <a:t>validation</a:t>
            </a:r>
          </a:p>
          <a:p>
            <a:pPr lvl="0"/>
            <a:r>
              <a:rPr/>
              <a:t>security</a:t>
            </a:r>
          </a:p>
          <a:p>
            <a:pPr lvl="0"/>
            <a:r>
              <a:rPr/>
              <a:t>scalability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Relational Models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organized into:</a:t>
            </a:r>
          </a:p>
          <a:p>
            <a:pPr lvl="0"/>
            <a:r>
              <a:rPr/>
              <a:t>tables</a:t>
            </a:r>
          </a:p>
          <a:p>
            <a:pPr lvl="0"/>
            <a:r>
              <a:rPr/>
              <a:t>rows</a:t>
            </a:r>
          </a:p>
          <a:p>
            <a:pPr lvl="0"/>
            <a:r>
              <a:rPr/>
              <a:t>columns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Orders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Relationship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Orders.user_id -&gt; Users.id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 structure</a:t>
            </a:r>
          </a:p>
          <a:p>
            <a:pPr lvl="0"/>
            <a:r>
              <a:rPr/>
              <a:t>strong constraints</a:t>
            </a:r>
          </a:p>
          <a:p>
            <a:pPr lvl="0"/>
            <a:r>
              <a:rPr/>
              <a:t>mature transactions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Strengths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powerful queries</a:t>
            </a:r>
          </a:p>
          <a:p>
            <a:pPr lvl="0"/>
            <a:r>
              <a:rPr/>
              <a:t>reporting support</a:t>
            </a:r>
          </a:p>
          <a:p>
            <a:pPr lvl="0"/>
            <a:r>
              <a:rPr/>
              <a:t>mature tooling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migrations may be required</a:t>
            </a:r>
          </a:p>
          <a:p>
            <a:pPr lvl="0"/>
            <a:r>
              <a:rPr/>
              <a:t>scaling can be complex</a:t>
            </a:r>
          </a:p>
          <a:p>
            <a:pPr lvl="0"/>
            <a:r>
              <a:rPr/>
              <a:t>variable data can be awkward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Relational Security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SQL injection</a:t>
            </a:r>
          </a:p>
          <a:p>
            <a:pPr lvl="0"/>
            <a:r>
              <a:rPr/>
              <a:t>least privilege</a:t>
            </a:r>
          </a:p>
          <a:p>
            <a:pPr lvl="0"/>
            <a:r>
              <a:rPr/>
              <a:t>prepared statements</a:t>
            </a:r>
          </a:p>
          <a:p>
            <a:pPr lvl="0"/>
            <a:r>
              <a:rPr/>
              <a:t>audit logs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Document Models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Documents are usually:</a:t>
            </a:r>
          </a:p>
          <a:p>
            <a:pPr lvl="0" indent="0">
              <a:buNone/>
            </a:pPr>
            <a:r>
              <a:rPr>
                <a:latin typeface="Courier"/>
              </a:rPr>
              <a:t>JSON-like objects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"Alice"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"orders"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[]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flexible schema</a:t>
            </a:r>
          </a:p>
          <a:p>
            <a:pPr lvl="0"/>
            <a:r>
              <a:rPr/>
              <a:t>nested structures</a:t>
            </a:r>
          </a:p>
          <a:p>
            <a:pPr lvl="0"/>
            <a:r>
              <a:rPr/>
              <a:t>natural for APIs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duplication is common</a:t>
            </a:r>
          </a:p>
          <a:p>
            <a:pPr lvl="0"/>
            <a:r>
              <a:rPr/>
              <a:t>joins are less natural</a:t>
            </a:r>
          </a:p>
          <a:p>
            <a:pPr lvl="0"/>
            <a:r>
              <a:rPr/>
              <a:t>schema confusion may appear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 Injection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"password"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"$ne"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 Models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represented as:</a:t>
            </a:r>
          </a:p>
          <a:p>
            <a:pPr lvl="0"/>
            <a:r>
              <a:rPr/>
              <a:t>nodes</a:t>
            </a:r>
          </a:p>
          <a:p>
            <a:pPr lvl="0"/>
            <a:r>
              <a:rPr/>
              <a:t>relationships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(Alice)-[:FRIEND_OF]-&gt;(Bob)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excellent for relationships</a:t>
            </a:r>
          </a:p>
          <a:p>
            <a:pPr lvl="0"/>
            <a:r>
              <a:rPr/>
              <a:t>useful for recommendations</a:t>
            </a:r>
          </a:p>
          <a:p>
            <a:pPr lvl="0"/>
            <a:r>
              <a:rPr/>
              <a:t>useful for fraud detection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harder traversals at scale</a:t>
            </a:r>
          </a:p>
          <a:p>
            <a:pPr lvl="0"/>
            <a:r>
              <a:rPr/>
              <a:t>complex security models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Key-Value Stores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Key-Value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key -&gt; value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session:abc123 -&gt; { userId: 17 }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Key-Value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very fast</a:t>
            </a:r>
          </a:p>
          <a:p>
            <a:pPr lvl="0"/>
            <a:r>
              <a:rPr/>
              <a:t>simple access</a:t>
            </a:r>
          </a:p>
          <a:p>
            <a:pPr lvl="0"/>
            <a:r>
              <a:rPr/>
              <a:t>useful for caching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Key-Value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limited queries</a:t>
            </a:r>
          </a:p>
          <a:p>
            <a:pPr lvl="0"/>
            <a:r>
              <a:rPr/>
              <a:t>easy misuse</a:t>
            </a:r>
          </a:p>
          <a:p>
            <a:pPr lvl="0"/>
            <a:r>
              <a:rPr/>
              <a:t>sensitive temporary data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Time-Series and Logs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Time-Oriented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metrics</a:t>
            </a:r>
          </a:p>
          <a:p>
            <a:pPr lvl="0"/>
            <a:r>
              <a:rPr/>
              <a:t>audit logs</a:t>
            </a:r>
          </a:p>
          <a:p>
            <a:pPr lvl="0"/>
            <a:r>
              <a:rPr/>
              <a:t>security events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2025-04-15 user.login user=17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Logging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Bad logs may leak secrets.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Bad Log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Failed login with password MySecretPassword123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Better Log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Failed login for user_id=17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Vector Databases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Vectors encode:</a:t>
            </a:r>
          </a:p>
          <a:p>
            <a:pPr lvl="0"/>
            <a:r>
              <a:rPr/>
              <a:t>similarity</a:t>
            </a:r>
          </a:p>
          <a:p>
            <a:pPr lvl="0"/>
            <a:r>
              <a:rPr/>
              <a:t>semantic meaning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semantic search</a:t>
            </a:r>
          </a:p>
          <a:p>
            <a:pPr lvl="0"/>
            <a:r>
              <a:rPr/>
              <a:t>recommendations</a:t>
            </a:r>
          </a:p>
          <a:p>
            <a:pPr lvl="0"/>
            <a:r>
              <a:rPr/>
              <a:t>AI retrieval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Vector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sensitive embeddings</a:t>
            </a:r>
          </a:p>
          <a:p>
            <a:pPr lvl="0"/>
            <a:r>
              <a:rPr/>
              <a:t>retrieval leaks</a:t>
            </a:r>
          </a:p>
          <a:p>
            <a:pPr lvl="0"/>
            <a:r>
              <a:rPr/>
              <a:t>poisoned documents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Concerns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Database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correctness</a:t>
            </a:r>
          </a:p>
          <a:p>
            <a:pPr lvl="0"/>
            <a:r>
              <a:rPr/>
              <a:t>consistency</a:t>
            </a:r>
          </a:p>
          <a:p>
            <a:pPr lvl="0"/>
            <a:r>
              <a:rPr/>
              <a:t>availability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Database Concerns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performance</a:t>
            </a:r>
          </a:p>
          <a:p>
            <a:pPr lvl="0"/>
            <a:r>
              <a:rPr/>
              <a:t>scalability</a:t>
            </a:r>
          </a:p>
          <a:p>
            <a:pPr lvl="0"/>
            <a:r>
              <a:rPr/>
              <a:t>durability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Database Concerns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security</a:t>
            </a:r>
          </a:p>
          <a:p>
            <a:pPr lvl="0"/>
            <a:r>
              <a:rPr/>
              <a:t>operability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ACID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Atomicity</a:t>
            </a:r>
          </a:p>
          <a:p>
            <a:pPr lvl="0"/>
            <a:r>
              <a:rPr/>
              <a:t>Consistency</a:t>
            </a:r>
          </a:p>
          <a:p>
            <a:pPr lvl="0"/>
            <a:r>
              <a:rPr/>
              <a:t>Isolation</a:t>
            </a:r>
          </a:p>
          <a:p>
            <a:pPr lvl="0"/>
            <a:r>
              <a:rPr/>
              <a:t>Durability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Atomicity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All or nothing.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Transactions preserve rules.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Concurrent transactions should not interfere unsafely.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Committed data survives crashes.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 Theorem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Consistency</a:t>
            </a:r>
          </a:p>
          <a:p>
            <a:pPr lvl="0"/>
            <a:r>
              <a:rPr/>
              <a:t>Availability</a:t>
            </a:r>
          </a:p>
          <a:p>
            <a:pPr lvl="0"/>
            <a:r>
              <a:rPr/>
              <a:t>Partition tolerance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During a partition:</a:t>
            </a:r>
          </a:p>
          <a:p>
            <a:pPr lvl="0" indent="0">
              <a:buNone/>
            </a:pPr>
            <a:r>
              <a:rPr>
                <a:latin typeface="Courier"/>
              </a:rPr>
              <a:t>A distributed system cannot fully guarantee both consistency and availability.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replicas.</a:t>
            </a:r>
          </a:p>
          <a:p>
            <a:pPr lvl="0" indent="0" marL="0">
              <a:buNone/>
            </a:pPr>
            <a:r>
              <a:rPr/>
              <a:t>One item left in stock.</a:t>
            </a:r>
          </a:p>
          <a:p>
            <a:pPr lvl="0" indent="0" marL="0">
              <a:buNone/>
            </a:pPr>
            <a:r>
              <a:rPr/>
              <a:t>Network partition occurs.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Prioritize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avoid double sale</a:t>
            </a:r>
          </a:p>
          <a:p>
            <a:pPr lvl="0"/>
            <a:r>
              <a:rPr/>
              <a:t>may refuse requests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Prioritize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continue responding</a:t>
            </a:r>
          </a:p>
          <a:p>
            <a:pPr lvl="0"/>
            <a:r>
              <a:rPr/>
              <a:t>may sell twice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Security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Is stale authorization acceptable?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a Database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Relational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structure matters</a:t>
            </a:r>
          </a:p>
          <a:p>
            <a:pPr lvl="0"/>
            <a:r>
              <a:rPr/>
              <a:t>constraints matter</a:t>
            </a:r>
          </a:p>
          <a:p>
            <a:pPr lvl="0"/>
            <a:r>
              <a:rPr/>
              <a:t>transactions matter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Document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JSON is natural</a:t>
            </a:r>
          </a:p>
          <a:p>
            <a:pPr lvl="0"/>
            <a:r>
              <a:rPr/>
              <a:t>flexibility matters</a:t>
            </a:r>
          </a:p>
          <a:p>
            <a:pPr lvl="0"/>
            <a:r>
              <a:rPr/>
              <a:t>nested data exists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Graph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relationships matter</a:t>
            </a:r>
          </a:p>
          <a:p>
            <a:pPr lvl="0"/>
            <a:r>
              <a:rPr/>
              <a:t>paths matter</a:t>
            </a:r>
          </a:p>
          <a:p>
            <a:pPr lvl="0"/>
            <a:r>
              <a:rPr/>
              <a:t>recommendations matter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Key-Value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access is by key</a:t>
            </a:r>
          </a:p>
          <a:p>
            <a:pPr lvl="0"/>
            <a:r>
              <a:rPr/>
              <a:t>speed matters</a:t>
            </a:r>
          </a:p>
          <a:p>
            <a:pPr lvl="0"/>
            <a:r>
              <a:rPr/>
              <a:t>data is temporary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Vector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similarity matters</a:t>
            </a:r>
          </a:p>
          <a:p>
            <a:pPr lvl="0"/>
            <a:r>
              <a:rPr/>
              <a:t>semantic search matters</a:t>
            </a:r>
          </a:p>
          <a:p>
            <a:pPr lvl="0"/>
            <a:r>
              <a:rPr/>
              <a:t>AI retrieval matters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Polyglot Persistence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 systems often use multiple databases.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MySQL: users
MongoDB: metadata
Redis: sessions
Neo4j: relationships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complexity</a:t>
            </a:r>
          </a:p>
          <a:p>
            <a:pPr lvl="0"/>
            <a:r>
              <a:rPr/>
              <a:t>more security configuration</a:t>
            </a:r>
          </a:p>
          <a:p>
            <a:pPr lvl="0"/>
            <a:r>
              <a:rPr/>
              <a:t>more consistency problems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Future Directions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cloud-native systems</a:t>
            </a:r>
          </a:p>
          <a:p>
            <a:pPr lvl="0"/>
            <a:r>
              <a:rPr/>
              <a:t>distributed SQL</a:t>
            </a:r>
          </a:p>
          <a:p>
            <a:pPr lvl="0"/>
            <a:r>
              <a:rPr/>
              <a:t>AI-native databases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Directions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streaming systems</a:t>
            </a:r>
          </a:p>
          <a:p>
            <a:pPr lvl="0"/>
            <a:r>
              <a:rPr/>
              <a:t>privacy-preserving systems</a:t>
            </a:r>
          </a:p>
          <a:p>
            <a:pPr lvl="0"/>
            <a:r>
              <a:rPr/>
              <a:t>edge databases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Security Starts with the Model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Early Modeling Decisions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storing passwords incorrectly</a:t>
            </a:r>
          </a:p>
          <a:p>
            <a:pPr lvl="0"/>
            <a:r>
              <a:rPr/>
              <a:t>mixing public and private data</a:t>
            </a:r>
          </a:p>
          <a:p>
            <a:pPr lvl="0"/>
            <a:r>
              <a:rPr/>
              <a:t>weak ownership modeling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Database Security Requires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good modeling</a:t>
            </a:r>
          </a:p>
          <a:p>
            <a:pPr lvl="0"/>
            <a:r>
              <a:rPr/>
              <a:t>safe queries</a:t>
            </a:r>
          </a:p>
          <a:p>
            <a:pPr lvl="0"/>
            <a:r>
              <a:rPr/>
              <a:t>access control</a:t>
            </a:r>
          </a:p>
          <a:p>
            <a:pPr lvl="0"/>
            <a:r>
              <a:rPr/>
              <a:t>monitoring</a:t>
            </a:r>
          </a:p>
          <a:p>
            <a:pPr lvl="0"/>
            <a:r>
              <a:rPr/>
              <a:t>recovery planning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Example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Entities:</a:t>
            </a:r>
          </a:p>
          <a:p>
            <a:pPr lvl="0"/>
            <a:r>
              <a:rPr/>
              <a:t>users</a:t>
            </a:r>
          </a:p>
          <a:p>
            <a:pPr lvl="0"/>
            <a:r>
              <a:rPr/>
              <a:t>projects</a:t>
            </a:r>
          </a:p>
          <a:p>
            <a:pPr lvl="0"/>
            <a:r>
              <a:rPr/>
              <a:t>tasks</a:t>
            </a:r>
          </a:p>
          <a:p>
            <a:pPr lvl="0"/>
            <a:r>
              <a:rPr/>
              <a:t>roles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Database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Possible technologies:</a:t>
            </a:r>
          </a:p>
          <a:p>
            <a:pPr lvl="0"/>
            <a:r>
              <a:rPr/>
              <a:t>MySQL</a:t>
            </a:r>
          </a:p>
          <a:p>
            <a:pPr lvl="0"/>
            <a:r>
              <a:rPr/>
              <a:t>MongoDB</a:t>
            </a:r>
          </a:p>
          <a:p>
            <a:pPr lvl="0"/>
            <a:r>
              <a:rPr/>
              <a:t>Redis</a:t>
            </a:r>
          </a:p>
          <a:p>
            <a:pPr lvl="0"/>
            <a:r>
              <a:rPr/>
              <a:t>Neo4j</a:t>
            </a:r>
          </a:p>
          <a:p>
            <a:pPr lvl="0"/>
            <a:r>
              <a:rPr/>
              <a:t>vector search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database is not just storage.</a:t>
            </a:r>
          </a:p>
          <a:p>
            <a:pPr lvl="0" indent="0" marL="0">
              <a:buNone/>
            </a:pPr>
            <a:r>
              <a:rPr/>
              <a:t>It manages application state.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Database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relational</a:t>
            </a:r>
          </a:p>
          <a:p>
            <a:pPr lvl="0"/>
            <a:r>
              <a:rPr/>
              <a:t>document</a:t>
            </a:r>
          </a:p>
          <a:p>
            <a:pPr lvl="0"/>
            <a:r>
              <a:rPr/>
              <a:t>graph</a:t>
            </a:r>
          </a:p>
          <a:p>
            <a:pPr lvl="0"/>
            <a:r>
              <a:rPr/>
              <a:t>key-value</a:t>
            </a:r>
          </a:p>
          <a:p>
            <a:pPr lvl="0"/>
            <a:r>
              <a:rPr/>
              <a:t>vector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choices affect:</a:t>
            </a:r>
          </a:p>
          <a:p>
            <a:pPr lvl="0"/>
            <a:r>
              <a:rPr/>
              <a:t>performance</a:t>
            </a:r>
          </a:p>
          <a:p>
            <a:pPr lvl="0"/>
            <a:r>
              <a:rPr/>
              <a:t>security</a:t>
            </a:r>
          </a:p>
          <a:p>
            <a:pPr lvl="0"/>
            <a:r>
              <a:rPr/>
              <a:t>recovery</a:t>
            </a:r>
          </a:p>
          <a:p>
            <a:pPr lvl="0"/>
            <a:r>
              <a:rPr/>
              <a:t>scalability</a:t>
            </a:r>
          </a:p>
          <a:p>
            <a:pPr lvl="0"/>
            <a:r>
              <a:rPr/>
              <a:t>auditing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Discussion Questions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Why might a relational database be safer for financial transactions?</a:t>
            </a:r>
          </a:p>
          <a:p>
            <a:pPr lvl="0" indent="-342900" marL="342900">
              <a:buAutoNum type="arabicPeriod"/>
            </a:pPr>
            <a:r>
              <a:rPr/>
              <a:t>Why might a document database be convenient for a product catalog?</a:t>
            </a:r>
          </a:p>
          <a:p>
            <a:pPr lvl="0" indent="-342900" marL="342900">
              <a:buAutoNum type="arabicPeriod"/>
            </a:pPr>
            <a:r>
              <a:rPr/>
              <a:t>What security risks appear when using Redis for sessions?</a:t>
            </a:r>
          </a:p>
          <a:p>
            <a:pPr lvl="0" indent="-342900" marL="342900">
              <a:buAutoNum type="arabicPeriod"/>
            </a:pPr>
            <a:r>
              <a:rPr/>
              <a:t>What can a graph relationship reveal that a node alone does not?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In the CAP stock example, would you prioritize consistency or availability?</a:t>
            </a:r>
          </a:p>
          <a:p>
            <a:pPr lvl="0" indent="-342900" marL="342900">
              <a:buAutoNum startAt="5" type="arabicPeriod"/>
            </a:pPr>
            <a:r>
              <a:rPr/>
              <a:t>Is stale authorization ever acceptable?</a:t>
            </a:r>
          </a:p>
          <a:p>
            <a:pPr lvl="0" indent="-342900" marL="342900">
              <a:buAutoNum startAt="5" type="arabicPeriod"/>
            </a:pPr>
            <a:r>
              <a:rPr/>
              <a:t>What new security problems appear with vector search?</a:t>
            </a:r>
          </a:p>
          <a:p>
            <a:pPr lvl="0" indent="-342900" marL="342900">
              <a:buAutoNum startAt="5" type="arabicPeriod"/>
            </a:pPr>
            <a:r>
              <a:rPr/>
              <a:t>Why does using multiple databases increase security complexity?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2026-05-09T04:48:55Z</dcterms:created>
  <dcterms:modified xsi:type="dcterms:W3CDTF">2026-05-09T04:48:55Z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